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Radar Detection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AED6F1"/>
                </a:solidFill>
              </a:defRPr>
            </a:pPr>
            <a:r>
              <a:t>Simulation, Clustering, Tracking &amp; Classification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0000"/>
                </a:solidFill>
              </a:defRPr>
            </a:pPr>
            <a:r>
              <a:t>• Radar Detection Simulation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Radar equation and received power modeling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Point cloud generation algorithms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Noise modeling and measurement simulation</a:t>
            </a:r>
          </a:p>
          <a:p>
            <a:pPr>
              <a:spcBef>
                <a:spcPts val="1200"/>
              </a:spcBef>
              <a:defRPr sz="2000" b="1">
                <a:solidFill>
                  <a:srgbClr val="000000"/>
                </a:solidFill>
              </a:defRPr>
            </a:pPr>
            <a:r>
              <a:t>• DBSCAN Clustering Algorithm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Density-based spatial clustering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Core points, border points, and noise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Implementation and parameter tuning</a:t>
            </a:r>
          </a:p>
          <a:p>
            <a:pPr>
              <a:spcBef>
                <a:spcPts val="1200"/>
              </a:spcBef>
              <a:defRPr sz="2000" b="1">
                <a:solidFill>
                  <a:srgbClr val="000000"/>
                </a:solidFill>
              </a:defRPr>
            </a:pPr>
            <a:r>
              <a:t>• Multi-Object Tracking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Nearest-neighbor data association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Track lifecycle management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Kalman filter prediction (linear motion)</a:t>
            </a:r>
          </a:p>
          <a:p>
            <a:pPr>
              <a:spcBef>
                <a:spcPts val="1200"/>
              </a:spcBef>
              <a:defRPr sz="2000" b="1">
                <a:solidFill>
                  <a:srgbClr val="000000"/>
                </a:solidFill>
              </a:defRPr>
            </a:pPr>
            <a:r>
              <a:t>• Classification Algorithms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Rule-Based classifier with feature thresholds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Naive Bayes probabilistic classification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Model comparison and evaluation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AED6F1"/>
                </a:solidFill>
              </a:defRPr>
            </a:pPr>
            <a: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Radar Detection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Radar Equation - Received Power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657600" cy="54864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Radar Equation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280160"/>
            <a:ext cx="7132320" cy="731520"/>
          </a:xfrm>
          <a:prstGeom prst="rect">
            <a:avLst/>
          </a:prstGeom>
          <a:solidFill>
            <a:srgbClr val="F5F5F5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371600"/>
            <a:ext cx="6949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19375F"/>
                </a:solidFill>
                <a:latin typeface="Consolas"/>
              </a:defRPr>
            </a:pPr>
            <a:r>
              <a:t>Pr(dBm) = K + 10·log₁₀(σ) - 40·log₁₀(R)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The radar equation calculates received signal power based on target RCS and range. K is a calibration constant (default: 81.2 dB).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112772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1. Calculate range R from radar position to target (Euclidean distance in 3D)</a:t>
            </a:r>
          </a:p>
          <a:p>
            <a:pPr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2. Get target RCS (σ) based on object type and surface properties</a:t>
            </a:r>
          </a:p>
          <a:p>
            <a:pPr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3. Apply radar equation with path loss (-40·log₁₀(R) accounts for R⁴ loss)</a:t>
            </a:r>
          </a:p>
          <a:p>
            <a:pPr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4. Add Gaussian noise (shadow fading) with σ = 1.2 dB for realistic variation</a:t>
            </a:r>
          </a:p>
          <a:p>
            <a:pPr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5. Combine individual detection powers using linear summation (mW → dBm)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Point Cloud Generation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0000"/>
                </a:solidFill>
              </a:defRPr>
            </a:pPr>
            <a:r>
              <a:t>• Surface Sampling Strategy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Sample points on visible surfaces (front/back, sides, top)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Weight sampling towards radar-facing surfaces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Apply corner reflector effect (2x RCS at corners)</a:t>
            </a:r>
          </a:p>
          <a:p>
            <a:pPr>
              <a:spcBef>
                <a:spcPts val="1200"/>
              </a:spcBef>
              <a:defRPr sz="2000" b="1">
                <a:solidFill>
                  <a:srgbClr val="000000"/>
                </a:solidFill>
              </a:defRPr>
            </a:pPr>
            <a:r>
              <a:t>• Distance-Based Scaling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Closer objects → more detections (inverse relationship)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At 10m: full detection count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At 100m: ~25% of maximum count</a:t>
            </a:r>
          </a:p>
          <a:p>
            <a:pPr>
              <a:spcBef>
                <a:spcPts val="1200"/>
              </a:spcBef>
              <a:defRPr sz="2000" b="1">
                <a:solidFill>
                  <a:srgbClr val="000000"/>
                </a:solidFill>
              </a:defRPr>
            </a:pPr>
            <a:r>
              <a:t>• Per-Point RCS Distribution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Total object RCS distributed across detection points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Corner points receive higher RCS values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Random variation factor (0.5x - 1.5x) for realism</a:t>
            </a:r>
          </a:p>
          <a:p>
            <a:pPr>
              <a:spcBef>
                <a:spcPts val="1200"/>
              </a:spcBef>
              <a:defRPr sz="2000" b="1">
                <a:solidFill>
                  <a:srgbClr val="000000"/>
                </a:solidFill>
              </a:defRPr>
            </a:pPr>
            <a:r>
              <a:t>• Noise Application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Range noise: σ_r = 0.25m (Gaussian)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Azimuth noise: σ_az = 0.2° (Gaussian)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Radial velocity noise: σ_vr = 0.15 m/s (Gaussian)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Detection Count by Object Type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77294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49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Object Type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Length (m)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Width (m)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RCS σ (m²)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Min Detections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Max Detections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Truck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10.0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2.6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30.0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Two-Wheeler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Bicycle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1.8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0.6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Pedestrian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AED6F1"/>
                </a:solidFill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DBSCAN Clustering Algorithm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DBSCAN - Density-Based Spatial Clustering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657600" cy="54864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DBSCAN Algorithm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280160"/>
            <a:ext cx="7132320" cy="731520"/>
          </a:xfrm>
          <a:prstGeom prst="rect">
            <a:avLst/>
          </a:prstGeom>
          <a:solidFill>
            <a:srgbClr val="F5F5F5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371600"/>
            <a:ext cx="6949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19375F"/>
                </a:solidFill>
                <a:latin typeface="Consolas"/>
              </a:defRPr>
            </a:pPr>
            <a:r>
              <a:t>ε-neighborhood: N_ε(p) = {q ∈ D | dist(p,q) ≤ ε}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DBSCAN groups points based on density, separating clusters of arbitrary shape from noise without requiring the number of clusters a priori.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112772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1. For each unvisited point p, retrieve its ε-neighborhood</a:t>
            </a:r>
          </a:p>
          <a:p>
            <a:pPr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2. If |N_ε(p)| ≥ minPts, p is a core point - start new cluster</a:t>
            </a:r>
          </a:p>
          <a:p>
            <a:pPr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3. Recursively expand cluster by adding all density-reachable points</a:t>
            </a:r>
          </a:p>
          <a:p>
            <a:pPr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4. If |N_ε(p)| &lt; minPts and not reachable from core, mark as noise</a:t>
            </a:r>
          </a:p>
          <a:p>
            <a:pPr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5. Continue until all points are visited and labeled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DBSCAN Point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0000"/>
                </a:solidFill>
              </a:defRPr>
            </a:pPr>
            <a:r>
              <a:t>• Core Points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Has at least minPts neighbors within ε distance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Forms the dense interior of clusters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Can expand the cluster by connecting to other core points</a:t>
            </a:r>
          </a:p>
          <a:p>
            <a:pPr>
              <a:spcBef>
                <a:spcPts val="1200"/>
              </a:spcBef>
              <a:defRPr sz="2000" b="1">
                <a:solidFill>
                  <a:srgbClr val="000000"/>
                </a:solidFill>
              </a:defRPr>
            </a:pPr>
            <a:r>
              <a:t>• Border Points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Within ε of a core point but &lt; minPts neighbors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Belongs to cluster but cannot expand it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Assigned to nearest core point's cluster</a:t>
            </a:r>
          </a:p>
          <a:p>
            <a:pPr>
              <a:spcBef>
                <a:spcPts val="1200"/>
              </a:spcBef>
              <a:defRPr sz="2000" b="1">
                <a:solidFill>
                  <a:srgbClr val="000000"/>
                </a:solidFill>
              </a:defRPr>
            </a:pPr>
            <a:r>
              <a:t>• Noise Points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Not within ε of any core point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Isolated detections (clutter, false alarms)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Excluded from object tracking and classification</a:t>
            </a:r>
          </a:p>
          <a:p>
            <a:pPr>
              <a:spcBef>
                <a:spcPts val="1200"/>
              </a:spcBef>
              <a:defRPr sz="2000" b="1">
                <a:solidFill>
                  <a:srgbClr val="000000"/>
                </a:solidFill>
              </a:defRPr>
            </a:pPr>
            <a:r>
              <a:t>• Parameters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ε (epsilon): 2.0m default - maximum neighbor distance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minPts: 2 default - minimum samples for core point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DBSCAN Implementation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0000"/>
                </a:solidFill>
              </a:defRPr>
            </a:pPr>
            <a:r>
              <a:t>• Distance Computation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Euclidean distance: d(p,q) = √[(x₁-x₂)² + (y₁-y₂)²]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Applied to world coordinates (x_w, y_w)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O(n²) naive implementation, O(n log n) with spatial indexing</a:t>
            </a:r>
          </a:p>
          <a:p>
            <a:pPr>
              <a:spcBef>
                <a:spcPts val="1200"/>
              </a:spcBef>
              <a:defRPr sz="2000" b="1">
                <a:solidFill>
                  <a:srgbClr val="000000"/>
                </a:solidFill>
              </a:defRPr>
            </a:pPr>
            <a:r>
              <a:t>• Cluster Expansion (BFS)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Use queue to track points to process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When core point found, add all neighbors to queue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Mark visited points to avoid reprocessing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Continue until queue empty</a:t>
            </a:r>
          </a:p>
          <a:p>
            <a:pPr>
              <a:spcBef>
                <a:spcPts val="1200"/>
              </a:spcBef>
              <a:defRPr sz="2000" b="1">
                <a:solidFill>
                  <a:srgbClr val="000000"/>
                </a:solidFill>
              </a:defRPr>
            </a:pPr>
            <a:r>
              <a:t>• Feature Extraction per Cluster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Centroid: mean(x), mean(y) of all points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Extent: (max-min) in X and Y directions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Statistics: mean/std of RCS and radial velocity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Point count: number of detections in cluster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AED6F1"/>
                </a:solidFill>
              </a:defRPr>
            </a:pPr>
            <a: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Multi-Object Tracking Algorithm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Tracking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49527" y="2286000"/>
            <a:ext cx="2011680" cy="109728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49527" y="23774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9527" y="2697480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Prediction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306927" y="2651760"/>
            <a:ext cx="457200" cy="36576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49527" y="356616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Apply motion model to predict next state for all tracks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09847" y="2286000"/>
            <a:ext cx="2011680" cy="10972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09847" y="23774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09847" y="2697480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Association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67247" y="2651760"/>
            <a:ext cx="457200" cy="36576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09847" y="356616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Match clusters to tracks using distance metric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0167" y="2286000"/>
            <a:ext cx="2011680" cy="10972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0167" y="23774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167" y="2697480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Update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27567" y="2651760"/>
            <a:ext cx="457200" cy="36576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0167" y="356616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Update matched tracks with cluster measurements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30487" y="2286000"/>
            <a:ext cx="2011680" cy="109728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30487" y="23774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Step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30487" y="2697480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30487" y="356616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Create new tracks, delete old tracks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Nearest-Neighbor Data Association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657600" cy="54864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Greedy Association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280160"/>
            <a:ext cx="7132320" cy="731520"/>
          </a:xfrm>
          <a:prstGeom prst="rect">
            <a:avLst/>
          </a:prstGeom>
          <a:solidFill>
            <a:srgbClr val="F5F5F5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371600"/>
            <a:ext cx="6949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19375F"/>
                </a:solidFill>
                <a:latin typeface="Consolas"/>
              </a:defRPr>
            </a:pPr>
            <a:r>
              <a:t>cost(c,t) = ||centroid(c) - pos(t)||₂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Association matches new cluster measurements to existing tracks using distance-based cost minimization.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112772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1. Compute cost matrix: distance from each cluster to each track</a:t>
            </a:r>
          </a:p>
          <a:p>
            <a:pPr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2. Sort all (cluster, track) pairs by cost (ascending)</a:t>
            </a:r>
          </a:p>
          <a:p>
            <a:pPr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3. For each pair in sorted order:</a:t>
            </a:r>
          </a:p>
          <a:p>
            <a:pPr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4.    - If cluster and track are both unassigned AND cost ≤ threshold</a:t>
            </a:r>
          </a:p>
          <a:p>
            <a:pPr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5.    - Assign cluster to track, mark both as used</a:t>
            </a:r>
          </a:p>
          <a:p>
            <a:pPr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6. Unassigned clusters → create new tracks</a:t>
            </a:r>
          </a:p>
          <a:p>
            <a:pPr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7. Unassigned tracks → increment miss counter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Motion Model - Linear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0000"/>
                </a:solidFill>
              </a:defRPr>
            </a:pPr>
            <a:r>
              <a:t>• State Vector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Position: (x, y) in world coordinates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Velocity: (vx, vy) estimated from position changes</a:t>
            </a:r>
          </a:p>
          <a:p>
            <a:pPr>
              <a:spcBef>
                <a:spcPts val="1200"/>
              </a:spcBef>
              <a:defRPr sz="2000" b="1">
                <a:solidFill>
                  <a:srgbClr val="000000"/>
                </a:solidFill>
              </a:defRPr>
            </a:pPr>
            <a:r>
              <a:t>• Prediction Step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x(t+dt) = x(t) + vx · dt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y(t+dt) = y(t) + vy · dt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Constant velocity assumption (no acceleration)</a:t>
            </a:r>
          </a:p>
          <a:p>
            <a:pPr>
              <a:spcBef>
                <a:spcPts val="1200"/>
              </a:spcBef>
              <a:defRPr sz="2000" b="1">
                <a:solidFill>
                  <a:srgbClr val="000000"/>
                </a:solidFill>
              </a:defRPr>
            </a:pPr>
            <a:r>
              <a:t>• Velocity Estimation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vx = (x_new - x_old) / dt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vy = (y_new - y_old) / dt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Updated on each successful cluster association</a:t>
            </a:r>
          </a:p>
          <a:p>
            <a:pPr>
              <a:spcBef>
                <a:spcPts val="1200"/>
              </a:spcBef>
              <a:defRPr sz="2000" b="1">
                <a:solidFill>
                  <a:srgbClr val="000000"/>
                </a:solidFill>
              </a:defRPr>
            </a:pPr>
            <a:r>
              <a:t>• Track Lifecycle Parameters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min_hits = 2: confirmations needed for valid track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max_misses = 5: consecutive misses before deletion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association_threshold = 5.0m: max distance for matching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Track Lifecycle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0000"/>
                </a:solidFill>
              </a:defRPr>
            </a:pPr>
            <a:r>
              <a:t>• Track Creation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New track created for each unassigned cluster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Initial state: cluster centroid, zero velocity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Status: tentative (hits = 1, age = 1)</a:t>
            </a:r>
          </a:p>
          <a:p>
            <a:pPr>
              <a:spcBef>
                <a:spcPts val="1200"/>
              </a:spcBef>
              <a:defRPr sz="2000" b="1">
                <a:solidFill>
                  <a:srgbClr val="000000"/>
                </a:solidFill>
              </a:defRPr>
            </a:pPr>
            <a:r>
              <a:t>• Track Confirmation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Track confirmed when hits ≥ min_hits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Only confirmed tracks used for classification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Provides temporal consistency</a:t>
            </a:r>
          </a:p>
          <a:p>
            <a:pPr>
              <a:spcBef>
                <a:spcPts val="1200"/>
              </a:spcBef>
              <a:defRPr sz="2000" b="1">
                <a:solidFill>
                  <a:srgbClr val="000000"/>
                </a:solidFill>
              </a:defRPr>
            </a:pPr>
            <a:r>
              <a:t>• Track Update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Position updated from associated cluster centroid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Velocity estimated from position delta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Feature history maintained (last 20 frames)</a:t>
            </a:r>
          </a:p>
          <a:p>
            <a:pPr>
              <a:spcBef>
                <a:spcPts val="1200"/>
              </a:spcBef>
              <a:defRPr sz="2000" b="1">
                <a:solidFill>
                  <a:srgbClr val="000000"/>
                </a:solidFill>
              </a:defRPr>
            </a:pPr>
            <a:r>
              <a:t>• Track Deletion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Miss counter incremented on no association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Track deleted when misses &gt; max_misses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Prevents ghost tracks from persisting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AED6F1"/>
                </a:solidFill>
              </a:defRPr>
            </a:pPr>
            <a: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Classification Algorithms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Classification Features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77294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8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Discriminative Power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num_points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Number of detections in cluster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High - varies by object size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extent_x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Width in X direction (m)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High - vehicle length indicator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extent_y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Width in Y direction (m)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Medium - vehicle width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mean_rcs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Average RCS in dBm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High - object reflectivity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std_rcs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RCS standard deviation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Low - surface uniformity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speed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Estimated velocity (m/s)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High - motion characteristics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mean_vr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Mean radial velocity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Medium - approach/departure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Rule-Based Classification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657600" cy="54864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Threshold Matching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280160"/>
            <a:ext cx="7132320" cy="731520"/>
          </a:xfrm>
          <a:prstGeom prst="rect">
            <a:avLst/>
          </a:prstGeom>
          <a:solidFill>
            <a:srgbClr val="F5F5F5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371600"/>
            <a:ext cx="6949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19375F"/>
                </a:solidFill>
                <a:latin typeface="Consolas"/>
              </a:defRPr>
            </a:pPr>
            <a:r>
              <a:t>score(c) = mean(match_scores) where match ∈ [0,1]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Classification based on predefined feature ranges for each class. Fast, interpretable, requires domain knowledge.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112772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1. For each class, define (min, max) range for each feature</a:t>
            </a:r>
          </a:p>
          <a:p>
            <a:pPr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2. For input features, compute match score per feature:</a:t>
            </a:r>
          </a:p>
          <a:p>
            <a:pPr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3.    - score = 1.0 if value in range (penalty for distance from center)</a:t>
            </a:r>
          </a:p>
          <a:p>
            <a:pPr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4.    - score = max(0, 1 - distance/range_size) if outside</a:t>
            </a:r>
          </a:p>
          <a:p>
            <a:pPr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5. Average scores across features for class score</a:t>
            </a:r>
          </a:p>
          <a:p>
            <a:pPr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6. Select class with highest score</a:t>
            </a:r>
          </a:p>
          <a:p>
            <a:pPr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7. Confidence = best_score / sum(all_scores)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Rule-Based Classification Thresholds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77294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49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Class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Points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Extent X (m)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Extent Y (m)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RCS (dBm)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Speed (m/s)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10-50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1.5-6.0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1.0-3.0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10-35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0.5-40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Truck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25-200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3.0-15.0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1.5-5.0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20-50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0.5-30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Two-Wheeler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3-15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0.8-3.0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0.3-1.5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5-25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0.5-35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Bicycle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1-8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0.5-2.5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0.2-1.2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-5-20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0.3-15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Pedestrian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0.2-1.5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0.2-1.0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-10-15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0.1-3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Clutter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1-5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0.0-1.0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0.0-1.0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-20-20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0.0-0.5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Naive Bayes Classification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657600" cy="54864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Probabilistic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280160"/>
            <a:ext cx="7132320" cy="731520"/>
          </a:xfrm>
          <a:prstGeom prst="rect">
            <a:avLst/>
          </a:prstGeom>
          <a:solidFill>
            <a:srgbClr val="F5F5F5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371600"/>
            <a:ext cx="6949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19375F"/>
                </a:solidFill>
                <a:latin typeface="Consolas"/>
              </a:defRPr>
            </a:pPr>
            <a:r>
              <a:t>P(C|X) ∝ P(C) · ∏ P(xᵢ|C)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Probabilistic classifier assuming feature independence. Outputs confidence probabilities for each class.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112772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1. Assume features are conditionally independent given class</a:t>
            </a:r>
          </a:p>
          <a:p>
            <a:pPr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2. Model each feature with Gaussian distribution: P(x|C) = N(μ_C, σ_C)</a:t>
            </a:r>
          </a:p>
          <a:p>
            <a:pPr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3. Compute log-likelihood for each class:</a:t>
            </a:r>
          </a:p>
          <a:p>
            <a:pPr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4.    log P(C|X) = log P(C) + Σ log P(xᵢ|C)</a:t>
            </a:r>
          </a:p>
          <a:p>
            <a:pPr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5. Apply log-sum-exp trick for numerical stability</a:t>
            </a:r>
          </a:p>
          <a:p>
            <a:pPr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6. Normalize to get posterior probabilities</a:t>
            </a:r>
          </a:p>
          <a:p>
            <a:pPr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7. Select class with maximum posterior probability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Naive Bayes Gaussian Parameters (μ, σ)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77294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49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Class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Points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Extent X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RCS (dBm)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Speed (m/s)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Prior P(C)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(25, 10)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(3.5, 1.0)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(22, 8)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(12, 6)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0.35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Truck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(50, 20)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(8.0, 2.5)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(30, 8)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(10, 5)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0.15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Two-Wheeler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(8, 4)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(2.0, 0.6)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(15, 7)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(10, 5)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0.15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Bicycle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(4, 2)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(1.5, 0.5)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(8, 6)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(5, 3)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0.10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Pedestrian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(2.5, 1.5)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(0.6, 0.3)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(5, 5)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(1.5, 0.8)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0.10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Clutter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(2, 1)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(0.4, 0.3)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(10, 8)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(0.1, 0.1)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0.15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Rule-Based vs Naive Bayes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486400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Rule-Based Classifier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• Fast computation (direct threshold checks)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• Highly interpretable (explicit rules)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• No training required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• Works well with domain expertise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• Binary matching (in range or not)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• Sensitive to threshold selection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• No probabilistic confidence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• Manual tuning for new scenarios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8095" y="1371600"/>
            <a:ext cx="5486400" cy="5486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48095" y="14173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Naive Bayes Classifier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095" y="21031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• Moderate computation (Gaussian PDF)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• Probabilistic output (soft decisions)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• Requires training data / parameters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• Data-driven parameter estimation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• Smooth probability gradients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• Handles feature overlap gracefully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• True confidence probabilities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• Adaptable through parameter updates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Complete Classification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-30632" y="2286000"/>
            <a:ext cx="2011680" cy="109728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30632" y="23774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30632" y="2697480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Detections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026767" y="2651760"/>
            <a:ext cx="457200" cy="36576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-30632" y="356616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Raw radar detections with (x, y, vr, RCS)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29687" y="2286000"/>
            <a:ext cx="2011680" cy="10972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29687" y="23774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9687" y="2697480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DBSCAN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587087" y="2651760"/>
            <a:ext cx="457200" cy="36576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29687" y="356616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Cluster detections into objects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90007" y="2286000"/>
            <a:ext cx="2011680" cy="10972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90007" y="23774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0007" y="2697480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Tracking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47407" y="2651760"/>
            <a:ext cx="457200" cy="36576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90007" y="356616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Associate clusters, maintain track IDs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50327" y="2286000"/>
            <a:ext cx="2011680" cy="109728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50327" y="23774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Step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0327" y="2697480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Features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707727" y="2651760"/>
            <a:ext cx="457200" cy="36576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50327" y="356616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Extract cluster features for classification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10647" y="2286000"/>
            <a:ext cx="2011680" cy="109728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10647" y="23774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Step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10647" y="2697480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Classify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0647" y="356616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Apply Rule-Based or Naive Bayes model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Feature History &amp; Temporal Smoothing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0000"/>
                </a:solidFill>
              </a:defRPr>
            </a:pPr>
            <a:r>
              <a:t>• Feature History Storage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Each track maintains last 20 frames of features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Features stored per update: points, extent, RCS, speed, etc.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Enables temporal analysis and trend detection</a:t>
            </a:r>
          </a:p>
          <a:p>
            <a:pPr>
              <a:spcBef>
                <a:spcPts val="1200"/>
              </a:spcBef>
              <a:defRPr sz="2000" b="1">
                <a:solidFill>
                  <a:srgbClr val="000000"/>
                </a:solidFill>
              </a:defRPr>
            </a:pPr>
            <a:r>
              <a:t>• Time-Averaged Features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Classification uses averaged features for stability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avg_feature = mean(feature_history)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Reduces frame-to-frame variation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More reliable classification for established tracks</a:t>
            </a:r>
          </a:p>
          <a:p>
            <a:pPr>
              <a:spcBef>
                <a:spcPts val="1200"/>
              </a:spcBef>
              <a:defRPr sz="2000" b="1">
                <a:solidFill>
                  <a:srgbClr val="000000"/>
                </a:solidFill>
              </a:defRPr>
            </a:pPr>
            <a:r>
              <a:t>• Classification History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Track stores last 10 classifications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Enables voting or consensus approaches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Useful for detecting classification changes</a:t>
            </a:r>
          </a:p>
          <a:p>
            <a:pPr>
              <a:spcBef>
                <a:spcPts val="1200"/>
              </a:spcBef>
              <a:defRPr sz="2000" b="1">
                <a:solidFill>
                  <a:srgbClr val="000000"/>
                </a:solidFill>
              </a:defRPr>
            </a:pPr>
            <a:r>
              <a:t>• Benefits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Reduces single-frame noise effects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More consistent predictions over time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Better handling of partial occlusions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AED6F1"/>
                </a:solidFill>
              </a:defRPr>
            </a:pPr>
            <a: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Summary &amp; Key Takeaways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Algorithm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0000"/>
                </a:solidFill>
              </a:defRPr>
            </a:pPr>
            <a:r>
              <a:t>• Radar Simulation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Physics-based power calculation with radar equation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Realistic point cloud generation on visible surfaces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Configurable noise models for range, azimuth, velocity</a:t>
            </a:r>
          </a:p>
          <a:p>
            <a:pPr>
              <a:spcBef>
                <a:spcPts val="1200"/>
              </a:spcBef>
              <a:defRPr sz="2000" b="1">
                <a:solidFill>
                  <a:srgbClr val="000000"/>
                </a:solidFill>
              </a:defRPr>
            </a:pPr>
            <a:r>
              <a:t>• DBSCAN Clustering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Density-based grouping without prior cluster count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Separates objects from clutter/noise naturally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ε = 2.0m, minPts = 2 for radar applications</a:t>
            </a:r>
          </a:p>
          <a:p>
            <a:pPr>
              <a:spcBef>
                <a:spcPts val="1200"/>
              </a:spcBef>
              <a:defRPr sz="2000" b="1">
                <a:solidFill>
                  <a:srgbClr val="000000"/>
                </a:solidFill>
              </a:defRPr>
            </a:pPr>
            <a:r>
              <a:t>• Object Tracking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Greedy nearest-neighbor association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Linear motion prediction for state estimation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Track lifecycle with confirmation and deletion</a:t>
            </a:r>
          </a:p>
          <a:p>
            <a:pPr>
              <a:spcBef>
                <a:spcPts val="1200"/>
              </a:spcBef>
              <a:defRPr sz="2000" b="1">
                <a:solidFill>
                  <a:srgbClr val="000000"/>
                </a:solidFill>
              </a:defRPr>
            </a:pPr>
            <a:r>
              <a:t>• Classification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Rule-Based: fast, interpretable, threshold-based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Naive Bayes: probabilistic, adaptive, data-driven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   – Feature-based: points, extent, RCS, speed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AED6F1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